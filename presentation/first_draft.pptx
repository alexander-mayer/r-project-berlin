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sldIdLst>
    <p:sldId id="256" r:id="rId2"/>
    <p:sldId id="262" r:id="rId3"/>
    <p:sldId id="263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613AA-6A5A-4096-BFAC-2CFDA905BBF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50323-5D4C-41DB-BACA-DF3483F835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96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Weiße </a:t>
            </a:r>
            <a:r>
              <a:rPr lang="de-DE" dirty="0" err="1"/>
              <a:t>flächen</a:t>
            </a:r>
            <a:r>
              <a:rPr lang="de-DE" dirty="0"/>
              <a:t> da in schwarzweiß nicht alle </a:t>
            </a:r>
            <a:r>
              <a:rPr lang="de-DE" dirty="0" err="1"/>
              <a:t>kategorien</a:t>
            </a:r>
            <a:r>
              <a:rPr lang="de-DE" dirty="0"/>
              <a:t> 1,2,3 darstellbar? Oder ist schwarz hier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?</a:t>
            </a:r>
            <a:br>
              <a:rPr lang="de-DE" dirty="0"/>
            </a:br>
            <a:br>
              <a:rPr lang="de-DE" dirty="0"/>
            </a:br>
            <a:r>
              <a:rPr lang="de-DE" dirty="0"/>
              <a:t>Wie genau haben wir </a:t>
            </a:r>
            <a:r>
              <a:rPr lang="de-DE" dirty="0" err="1"/>
              <a:t>wmf</a:t>
            </a:r>
            <a:r>
              <a:rPr lang="de-DE" dirty="0"/>
              <a:t> nochmal umgewandelt (das waren einfach Polygone, die wir easy in </a:t>
            </a:r>
            <a:r>
              <a:rPr lang="de-DE" dirty="0" err="1"/>
              <a:t>raster</a:t>
            </a:r>
            <a:r>
              <a:rPr lang="de-DE" dirty="0"/>
              <a:t> umwandeln konnten, oder?)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50323-5D4C-41DB-BACA-DF3483F8352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906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50323-5D4C-41DB-BACA-DF3483F8352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7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330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879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5253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19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7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3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3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18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28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24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56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E92D9A2-1CB5-468C-ABD2-3554E8901FC9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0508B8A-7A26-48DA-AD29-C9182D5C2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18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D992D86-10CD-3E2F-0766-E4E9D2404B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0" t="10126" b="6555"/>
          <a:stretch/>
        </p:blipFill>
        <p:spPr>
          <a:xfrm>
            <a:off x="475488" y="978407"/>
            <a:ext cx="11716512" cy="5120641"/>
          </a:xfrm>
          <a:prstGeom prst="rect">
            <a:avLst/>
          </a:prstGeom>
          <a:effectLst>
            <a:outerShdw blurRad="50800" dist="50800" sx="1000" sy="1000" algn="ctr" rotWithShape="0">
              <a:srgbClr val="000000"/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FF4A991-F2A2-7CA4-C225-3D1D2181C4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Environmental and </a:t>
            </a:r>
            <a:r>
              <a:rPr lang="de-DE" dirty="0" err="1"/>
              <a:t>Social</a:t>
            </a:r>
            <a:r>
              <a:rPr lang="de-DE" dirty="0"/>
              <a:t> </a:t>
            </a:r>
            <a:r>
              <a:rPr lang="de-DE" dirty="0" err="1"/>
              <a:t>Indicators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Berlin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B7C849-1179-B026-8CB5-A29D7CB2F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26.01.2026</a:t>
            </a:r>
          </a:p>
          <a:p>
            <a:r>
              <a:rPr lang="de-DE" dirty="0"/>
              <a:t>Leah Melchert, Alexander Mayer und Rosina Engert</a:t>
            </a:r>
          </a:p>
        </p:txBody>
      </p:sp>
    </p:spTree>
    <p:extLst>
      <p:ext uri="{BB962C8B-B14F-4D97-AF65-F5344CB8AC3E}">
        <p14:creationId xmlns:p14="http://schemas.microsoft.com/office/powerpoint/2010/main" val="1963521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nhaltsplatzhalter 28">
            <a:extLst>
              <a:ext uri="{FF2B5EF4-FFF2-40B4-BE49-F238E27FC236}">
                <a16:creationId xmlns:a16="http://schemas.microsoft.com/office/drawing/2014/main" id="{99A965C8-BA19-09CC-61D7-4282E441A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679" y="2313877"/>
            <a:ext cx="4362450" cy="359092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Inhaltsplatzhalter 2">
                <a:extLst>
                  <a:ext uri="{FF2B5EF4-FFF2-40B4-BE49-F238E27FC236}">
                    <a16:creationId xmlns:a16="http://schemas.microsoft.com/office/drawing/2014/main" id="{EC6D49DB-B644-3B91-F3D2-90AF9FB405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1872" y="1828800"/>
                <a:ext cx="5164807" cy="43513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dirty="0"/>
                  <a:t>Open Data </a:t>
                </a:r>
                <a:r>
                  <a:rPr lang="de-DE" dirty="0" err="1"/>
                  <a:t>from</a:t>
                </a:r>
                <a:r>
                  <a:rPr lang="de-DE" dirty="0"/>
                  <a:t> Geoportal Berlin</a:t>
                </a:r>
              </a:p>
              <a:p>
                <a:r>
                  <a:rPr lang="de-DE" dirty="0"/>
                  <a:t>Download </a:t>
                </a:r>
                <a:r>
                  <a:rPr lang="de-DE" dirty="0" err="1"/>
                  <a:t>as</a:t>
                </a:r>
                <a:r>
                  <a:rPr lang="de-DE" dirty="0"/>
                  <a:t> WMS (</a:t>
                </a:r>
                <a:r>
                  <a:rPr lang="de-DE" dirty="0" err="1"/>
                  <a:t>raster</a:t>
                </a:r>
                <a:r>
                  <a:rPr lang="de-DE" dirty="0"/>
                  <a:t>) </a:t>
                </a:r>
                <a:r>
                  <a:rPr lang="de-DE" dirty="0" err="1"/>
                  <a:t>or</a:t>
                </a:r>
                <a:r>
                  <a:rPr lang="de-DE" dirty="0"/>
                  <a:t> WMF (</a:t>
                </a:r>
                <a:r>
                  <a:rPr lang="de-DE" dirty="0" err="1"/>
                  <a:t>vector</a:t>
                </a:r>
                <a:r>
                  <a:rPr lang="de-DE" dirty="0"/>
                  <a:t>)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</a:p>
              <a:p>
                <a:r>
                  <a:rPr lang="de-DE" dirty="0"/>
                  <a:t>Transfer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vector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into</a:t>
                </a:r>
                <a:r>
                  <a:rPr lang="de-DE" dirty="0"/>
                  <a:t> </a:t>
                </a:r>
                <a:r>
                  <a:rPr lang="de-DE" dirty="0" err="1"/>
                  <a:t>raster</a:t>
                </a:r>
                <a:endParaRPr lang="de-DE" dirty="0"/>
              </a:p>
              <a:p>
                <a:r>
                  <a:rPr lang="de-DE" dirty="0" err="1"/>
                  <a:t>Adjustable</a:t>
                </a:r>
                <a:r>
                  <a:rPr lang="de-DE" dirty="0"/>
                  <a:t> </a:t>
                </a:r>
                <a:r>
                  <a:rPr lang="de-DE" dirty="0" err="1"/>
                  <a:t>rasterpixel</a:t>
                </a:r>
                <a:r>
                  <a:rPr lang="de-DE" dirty="0"/>
                  <a:t> </a:t>
                </a:r>
                <a:r>
                  <a:rPr lang="de-DE" dirty="0" err="1"/>
                  <a:t>resolution</a:t>
                </a:r>
                <a:endParaRPr lang="de-DE" dirty="0"/>
              </a:p>
              <a:p>
                <a:r>
                  <a:rPr lang="de-DE" dirty="0" err="1"/>
                  <a:t>Result</a:t>
                </a:r>
                <a:r>
                  <a:rPr lang="de-DE" dirty="0"/>
                  <a:t>: </a:t>
                </a:r>
                <a:r>
                  <a:rPr lang="de-DE" dirty="0" err="1"/>
                  <a:t>tiff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endParaRPr lang="de-D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𝑁𝑂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, PM2.5 and PM10</a:t>
                </a:r>
              </a:p>
              <a:p>
                <a:pPr lvl="1"/>
                <a:r>
                  <a:rPr lang="de-DE" dirty="0"/>
                  <a:t>Noise </a:t>
                </a:r>
                <a:r>
                  <a:rPr lang="de-DE" dirty="0" err="1"/>
                  <a:t>pollution</a:t>
                </a:r>
                <a:endParaRPr lang="de-DE" dirty="0"/>
              </a:p>
              <a:p>
                <a:pPr lvl="1"/>
                <a:r>
                  <a:rPr lang="de-DE" dirty="0"/>
                  <a:t>Green </a:t>
                </a:r>
                <a:r>
                  <a:rPr lang="de-DE" dirty="0" err="1"/>
                  <a:t>spaces</a:t>
                </a:r>
                <a:endParaRPr lang="de-DE" dirty="0"/>
              </a:p>
              <a:p>
                <a:pPr lvl="1"/>
                <a:r>
                  <a:rPr lang="de-DE" dirty="0" err="1"/>
                  <a:t>Social</a:t>
                </a:r>
                <a:r>
                  <a:rPr lang="de-DE" dirty="0"/>
                  <a:t> </a:t>
                </a:r>
                <a:r>
                  <a:rPr lang="de-DE" dirty="0" err="1"/>
                  <a:t>disadvantage</a:t>
                </a:r>
                <a:r>
                  <a:rPr lang="de-DE" dirty="0"/>
                  <a:t> (</a:t>
                </a:r>
                <a:r>
                  <a:rPr lang="de-DE" dirty="0" err="1"/>
                  <a:t>poverty</a:t>
                </a:r>
                <a:r>
                  <a:rPr lang="de-DE" dirty="0"/>
                  <a:t> and </a:t>
                </a:r>
                <a:r>
                  <a:rPr lang="de-DE" dirty="0" err="1"/>
                  <a:t>unemployment</a:t>
                </a:r>
                <a:r>
                  <a:rPr lang="de-DE" dirty="0"/>
                  <a:t>)</a:t>
                </a:r>
              </a:p>
              <a:p>
                <a:pPr lvl="1"/>
                <a:r>
                  <a:rPr lang="de-DE" dirty="0"/>
                  <a:t>Health and </a:t>
                </a:r>
                <a:r>
                  <a:rPr lang="de-DE" dirty="0" err="1"/>
                  <a:t>Social</a:t>
                </a:r>
                <a:r>
                  <a:rPr lang="de-DE" dirty="0"/>
                  <a:t> Index</a:t>
                </a:r>
              </a:p>
              <a:p>
                <a:pPr lvl="1"/>
                <a:endParaRPr lang="de-DE" dirty="0"/>
              </a:p>
            </p:txBody>
          </p:sp>
        </mc:Choice>
        <mc:Fallback xmlns="">
          <p:sp>
            <p:nvSpPr>
              <p:cNvPr id="30" name="Inhaltsplatzhalter 2">
                <a:extLst>
                  <a:ext uri="{FF2B5EF4-FFF2-40B4-BE49-F238E27FC236}">
                    <a16:creationId xmlns:a16="http://schemas.microsoft.com/office/drawing/2014/main" id="{EC6D49DB-B644-3B91-F3D2-90AF9FB40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872" y="1828800"/>
                <a:ext cx="5164807" cy="4351337"/>
              </a:xfrm>
              <a:prstGeom prst="rect">
                <a:avLst/>
              </a:prstGeom>
              <a:blipFill>
                <a:blip r:embed="rId4"/>
                <a:stretch>
                  <a:fillRect l="-236" t="-980" r="-2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3205B4C7-2210-5CFA-9597-5460F3C8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and Data </a:t>
            </a:r>
            <a:r>
              <a:rPr lang="de-DE" dirty="0" err="1"/>
              <a:t>handling</a:t>
            </a:r>
            <a:endParaRPr lang="de-DE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521A2CAD-DFC7-A878-D4E8-935F725BE103}"/>
              </a:ext>
            </a:extLst>
          </p:cNvPr>
          <p:cNvSpPr txBox="1">
            <a:spLocks/>
          </p:cNvSpPr>
          <p:nvPr/>
        </p:nvSpPr>
        <p:spPr>
          <a:xfrm>
            <a:off x="6426679" y="5790787"/>
            <a:ext cx="2606040" cy="48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PM10</a:t>
            </a:r>
          </a:p>
        </p:txBody>
      </p:sp>
    </p:spTree>
    <p:extLst>
      <p:ext uri="{BB962C8B-B14F-4D97-AF65-F5344CB8AC3E}">
        <p14:creationId xmlns:p14="http://schemas.microsoft.com/office/powerpoint/2010/main" val="379491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E0DB8-34D3-DA31-B21F-48B5CF3D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720DBBB-A429-D0D7-7E1D-0885C95FE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406" y="1828800"/>
            <a:ext cx="3934374" cy="4239217"/>
          </a:xfr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EA13A1B-72E5-E2FD-E0AF-E534F1F857A9}"/>
              </a:ext>
            </a:extLst>
          </p:cNvPr>
          <p:cNvSpPr txBox="1">
            <a:spLocks/>
          </p:cNvSpPr>
          <p:nvPr/>
        </p:nvSpPr>
        <p:spPr>
          <a:xfrm>
            <a:off x="1261872" y="1828800"/>
            <a:ext cx="3707723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indicators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a 2D-Colorscale</a:t>
            </a:r>
          </a:p>
          <a:p>
            <a:r>
              <a:rPr lang="de-DE" dirty="0"/>
              <a:t>Use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colorscale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raster</a:t>
            </a:r>
            <a:r>
              <a:rPr lang="de-DE" dirty="0"/>
              <a:t> </a:t>
            </a:r>
            <a:r>
              <a:rPr lang="de-DE" dirty="0" err="1"/>
              <a:t>image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89DFF82-1400-FED0-4C7A-E4D10AEC2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1"/>
          <a:stretch/>
        </p:blipFill>
        <p:spPr>
          <a:xfrm>
            <a:off x="5202824" y="1885957"/>
            <a:ext cx="2019582" cy="405764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F314015-0A31-4B2F-1786-864478741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824" y="485914"/>
            <a:ext cx="5953956" cy="581602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A9DF4F2-9C63-6E29-F1FD-4C7F2BF35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936" y="3784378"/>
            <a:ext cx="2334994" cy="251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9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58B3C-23C2-70B7-7BC6-BA5C3D11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Applicability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in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scales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users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610141-87CC-4881-67FE-49043913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3246120" cy="4351337"/>
          </a:xfrm>
        </p:spPr>
        <p:txBody>
          <a:bodyPr>
            <a:normAutofit/>
          </a:bodyPr>
          <a:lstStyle/>
          <a:p>
            <a:r>
              <a:rPr lang="de-DE" dirty="0"/>
              <a:t>Use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:</a:t>
            </a:r>
          </a:p>
          <a:p>
            <a:pPr marL="342900" indent="-342900">
              <a:buAutoNum type="arabicPeriod"/>
            </a:pPr>
            <a:r>
              <a:rPr lang="de-DE" dirty="0" err="1"/>
              <a:t>city</a:t>
            </a:r>
            <a:r>
              <a:rPr lang="de-DE" dirty="0"/>
              <a:t> </a:t>
            </a:r>
            <a:r>
              <a:rPr lang="de-DE" dirty="0" err="1"/>
              <a:t>planning</a:t>
            </a:r>
            <a:r>
              <a:rPr lang="de-DE" dirty="0"/>
              <a:t> in Berlin</a:t>
            </a:r>
          </a:p>
          <a:p>
            <a:pPr marL="342900" indent="-342900">
              <a:buAutoNum type="arabicPeriod"/>
            </a:pPr>
            <a:r>
              <a:rPr lang="de-DE" dirty="0"/>
              <a:t>individual </a:t>
            </a:r>
            <a:r>
              <a:rPr lang="de-DE" dirty="0" err="1"/>
              <a:t>living</a:t>
            </a:r>
            <a:r>
              <a:rPr lang="de-DE" dirty="0"/>
              <a:t>/ </a:t>
            </a:r>
            <a:r>
              <a:rPr lang="de-DE" dirty="0" err="1"/>
              <a:t>activity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search</a:t>
            </a:r>
            <a:endParaRPr lang="de-DE" dirty="0"/>
          </a:p>
          <a:p>
            <a:endParaRPr lang="de-DE" dirty="0"/>
          </a:p>
          <a:p>
            <a:r>
              <a:rPr lang="de-DE" dirty="0"/>
              <a:t>Adaptation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:</a:t>
            </a:r>
          </a:p>
          <a:p>
            <a:pPr marL="617220" lvl="1" indent="-342900">
              <a:buAutoNum type="arabicPeriod"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 (</a:t>
            </a:r>
            <a:r>
              <a:rPr lang="de-DE" dirty="0" err="1"/>
              <a:t>vector</a:t>
            </a:r>
            <a:r>
              <a:rPr lang="de-DE" dirty="0"/>
              <a:t> and </a:t>
            </a:r>
            <a:r>
              <a:rPr lang="de-DE" dirty="0" err="1"/>
              <a:t>raster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possible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implement</a:t>
            </a:r>
            <a:r>
              <a:rPr lang="de-DE" dirty="0"/>
              <a:t>)</a:t>
            </a:r>
          </a:p>
          <a:p>
            <a:pPr marL="617220" lvl="1" indent="-342900">
              <a:buAutoNum type="arabicPeriod"/>
            </a:pPr>
            <a:r>
              <a:rPr lang="de-DE" dirty="0"/>
              <a:t>With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(easy </a:t>
            </a:r>
            <a:r>
              <a:rPr lang="de-DE" dirty="0" err="1"/>
              <a:t>application</a:t>
            </a:r>
            <a:r>
              <a:rPr lang="de-DE" dirty="0"/>
              <a:t> on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r>
              <a:rPr lang="de-DE" dirty="0"/>
              <a:t> in </a:t>
            </a:r>
            <a:r>
              <a:rPr lang="de-DE" dirty="0" err="1"/>
              <a:t>space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E33D5A58-007E-0C73-8070-23C72D3CA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928" y="1732074"/>
            <a:ext cx="6299584" cy="44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54399"/>
      </p:ext>
    </p:extLst>
  </p:cSld>
  <p:clrMapOvr>
    <a:masterClrMapping/>
  </p:clrMapOvr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TM03457515[[fn=Aussicht]]</Template>
  <TotalTime>0</TotalTime>
  <Words>192</Words>
  <Application>Microsoft Office PowerPoint</Application>
  <PresentationFormat>Breitbild</PresentationFormat>
  <Paragraphs>29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Schoolbook</vt:lpstr>
      <vt:lpstr>Wingdings 2</vt:lpstr>
      <vt:lpstr>Aussicht</vt:lpstr>
      <vt:lpstr>Environmental and Social Indicators of Berlin</vt:lpstr>
      <vt:lpstr>Data and Data handling</vt:lpstr>
      <vt:lpstr>Methods</vt:lpstr>
      <vt:lpstr>Applicability in the future or in other scales for users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Engert, Rosina</dc:creator>
  <cp:lastModifiedBy>Leah Melchert</cp:lastModifiedBy>
  <cp:revision>2</cp:revision>
  <dcterms:created xsi:type="dcterms:W3CDTF">2026-01-25T13:22:42Z</dcterms:created>
  <dcterms:modified xsi:type="dcterms:W3CDTF">2026-01-26T11:51:56Z</dcterms:modified>
</cp:coreProperties>
</file>